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Quant Signal</c:v>
                </c:pt>
              </c:strCache>
            </c:strRef>
          </c:tx>
          <c:spPr>
            <a:solidFill>
              <a:srgbClr val="FF6B6B"/>
            </a:solidFill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Week 1</c:v>
                  </c:pt>
                  <c:pt idx="2">
                    <c:v>Month 1</c:v>
                  </c:pt>
                  <c:pt idx="3">
                    <c:v>Month 3</c:v>
                  </c:pt>
                  <c:pt idx="4">
                    <c:v>Month 6</c:v>
                  </c:pt>
                  <c:pt idx="5">
                    <c:v>Year 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82</c:v>
                </c:pt>
                <c:pt idx="2">
                  <c:v>55</c:v>
                </c:pt>
                <c:pt idx="3">
                  <c:v>30</c:v>
                </c:pt>
                <c:pt idx="4">
                  <c:v>12</c:v>
                </c:pt>
                <c:pt idx="5">
                  <c:v>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AI-Augmented Signal</c:v>
                </c:pt>
              </c:strCache>
            </c:strRef>
          </c:tx>
          <c:spPr>
            <a:solidFill>
              <a:srgbClr val="4A9EFF"/>
            </a:solidFill>
            <a:ln w="38100" cap="flat">
              <a:solidFill>
                <a:srgbClr val="4A9E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EFF"/>
              </a:solidFill>
              <a:ln w="9525" cap="flat">
                <a:solidFill>
                  <a:srgbClr val="4A9E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Week 1</c:v>
                  </c:pt>
                  <c:pt idx="2">
                    <c:v>Month 1</c:v>
                  </c:pt>
                  <c:pt idx="3">
                    <c:v>Month 3</c:v>
                  </c:pt>
                  <c:pt idx="4">
                    <c:v>Month 6</c:v>
                  </c:pt>
                  <c:pt idx="5">
                    <c:v>Year 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80</c:v>
                </c:pt>
                <c:pt idx="3">
                  <c:v>62</c:v>
                </c:pt>
                <c:pt idx="4">
                  <c:v>45</c:v>
                </c:pt>
                <c:pt idx="5">
                  <c:v>28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Agentic Adaptive Signal</c:v>
                </c:pt>
              </c:strCache>
            </c:strRef>
          </c:tx>
          <c:spPr>
            <a:solidFill>
              <a:srgbClr val="D4A84B"/>
            </a:solidFill>
            <a:ln w="38100" cap="flat">
              <a:solidFill>
                <a:srgbClr val="D4A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4B"/>
              </a:solidFill>
              <a:ln w="9525" cap="flat">
                <a:solidFill>
                  <a:srgbClr val="D4A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Day 1</c:v>
                  </c:pt>
                  <c:pt idx="1">
                    <c:v>Week 1</c:v>
                  </c:pt>
                  <c:pt idx="2">
                    <c:v>Month 1</c:v>
                  </c:pt>
                  <c:pt idx="3">
                    <c:v>Month 3</c:v>
                  </c:pt>
                  <c:pt idx="4">
                    <c:v>Month 6</c:v>
                  </c:pt>
                  <c:pt idx="5">
                    <c:v>Year 1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98</c:v>
                </c:pt>
                <c:pt idx="2">
                  <c:v>92</c:v>
                </c:pt>
                <c:pt idx="3">
                  <c:v>85</c:v>
                </c:pt>
                <c:pt idx="4">
                  <c:v>72</c:v>
                </c:pt>
                <c:pt idx="5">
                  <c:v>58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899A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899AA"/>
                    </a:solidFill>
                    <a:latin typeface="Arial"/>
                  </a:rPr>
                  <a:t>Signal Strength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328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EFF"/>
              </a:solidFill>
              <a:effectLst/>
            </c:spPr>
          </c:dPt>
          <c:dPt>
            <c:idx val="1"/>
            <c:bubble3D val="0"/>
            <c:spPr>
              <a:solidFill>
                <a:srgbClr val="D4A84B"/>
              </a:solidFill>
              <a:effectLst/>
            </c:spPr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F0F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F0F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0F0F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AI-Detected</c:v>
                </c:pt>
                <c:pt idx="1">
                  <c:v>Rule-Based</c:v>
                </c:pt>
                <c:pt idx="2">
                  <c:v>Undetected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68</c:v>
                </c:pt>
                <c:pt idx="1">
                  <c:v>24</c:v>
                </c:pt>
                <c:pt idx="2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0F0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ALPHA: SIGNAL DECAY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097280"/>
          <a:ext cx="7680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signals self-adapt via continuous RAG feedback loops — reducing alpha decay by 6×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COMPLIANCE: AUTOMATED REGULATORY FILING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64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23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144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manual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7432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232830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7432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23283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15min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6692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time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FRAUD DETECTION: AI VS. TRADITIONAL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 positive rate: 0.3% (vs 12% traditional)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Detection latency: &lt;200ms real-time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data training: 50M+ scenarios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savings: $340M/yr for top-10 banks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Regulatory citations reduced by 78%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EQUITY: PREDICTIVE DEAL SOURCING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777240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48840" y="1143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Scanned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(NLP on filings, news, alt data)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874520"/>
            <a:ext cx="621792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920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AI-Scored Targets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(Propensity model &gt;0.7)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65176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697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(Agent-generated memos)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3429000"/>
            <a:ext cx="2926080" cy="640080"/>
          </a:xfrm>
          <a:prstGeom prst="roundRect">
            <a:avLst>
              <a:gd name="adj" fmla="val 7143"/>
            </a:avLst>
          </a:prstGeom>
          <a:solidFill>
            <a:srgbClr val="23283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474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 Deals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(Human-validated thesis)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PE: AI-DRIVEN OPERATIONAL IMPROVEMENTS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7373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Co. 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Pre-AI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Post-AI (12mo)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E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 YoY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 YoY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Churn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Cycle Length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0C8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Composite of 12 PE-backed companies with AI transformation programs (2024-2026)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MBA SKILLSET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Excel-Monkey to AI-Orchestrator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2328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MBA (DEPRECATED)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Excel/VBA modeling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PowerPoint formatting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Manual data gathering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Pitch book assembly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Static scenario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MBA (REQUIRED)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Prompt engineering &amp; LLM orchestration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RAG architecture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Agent workflow composition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output validation &amp; governance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Synthetic data strategy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AI-ORCHESTRATOR TOOLKIT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887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188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pipelines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6974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planning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23283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97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6974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EVOLUTION: ANALYST → PORTFOLIO ARCHITECT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1-2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0" cy="18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models with AI copilot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LLM outputs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Prompt-engineer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D4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3-4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2194560"/>
            <a:ext cx="1371600" cy="18288"/>
          </a:xfrm>
          <a:prstGeom prst="rect">
            <a:avLst/>
          </a:prstGeom>
          <a:solidFill>
            <a:srgbClr val="D4A84B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agentic pipelines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AI + human teams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decision frameworks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50C8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5-7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194560"/>
            <a:ext cx="1371600" cy="1828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AI governance strategy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firm-wide AI stack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responsibility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0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49440" y="118872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23283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Partner/MD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2194560"/>
            <a:ext cx="1371600" cy="182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2860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competitive moat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AI strategy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thought leadership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AI-MBA Batch 2</dc:title>
  <dc:subject>PptxGenJS Presentation</dc:subject>
  <dc:creator>PptxGenJS</dc:creator>
  <cp:lastModifiedBy>PptxGenJS</cp:lastModifiedBy>
  <cp:revision>1</cp:revision>
  <dcterms:created xsi:type="dcterms:W3CDTF">2026-05-09T19:21:12Z</dcterms:created>
  <dcterms:modified xsi:type="dcterms:W3CDTF">2026-05-09T19:21:12Z</dcterms:modified>
</cp:coreProperties>
</file>