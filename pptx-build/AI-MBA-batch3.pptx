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MBA ($K)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IB Analyst</c:v>
                  </c:pt>
                  <c:pt idx="1">
                    <c:v>AM Associate</c:v>
                  </c:pt>
                  <c:pt idx="2">
                    <c:v>PE Associate</c:v>
                  </c:pt>
                  <c:pt idx="3">
                    <c:v>Risk Analyst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155</c:v>
                </c:pt>
                <c:pt idx="2">
                  <c:v>190</c:v>
                </c:pt>
                <c:pt idx="3">
                  <c:v>140</c:v>
                </c:pt>
                <c:pt idx="4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AI-Native MBA ($K)</c:v>
                </c:pt>
              </c:strCache>
            </c:strRef>
          </c:tx>
          <c:spPr>
            <a:solidFill>
              <a:srgbClr val="D4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IB Analyst</c:v>
                  </c:pt>
                  <c:pt idx="1">
                    <c:v>AM Associate</c:v>
                  </c:pt>
                  <c:pt idx="2">
                    <c:v>PE Associate</c:v>
                  </c:pt>
                  <c:pt idx="3">
                    <c:v>Risk Analyst</c:v>
                  </c:pt>
                  <c:pt idx="4">
                    <c:v>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225</c:v>
                </c:pt>
                <c:pt idx="1">
                  <c:v>210</c:v>
                </c:pt>
                <c:pt idx="2">
                  <c:v>265</c:v>
                </c:pt>
                <c:pt idx="3">
                  <c:v>195</c:v>
                </c:pt>
                <c:pt idx="4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Total Comp Year 1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COMPENSATION GAP: AI-NATIVE PREMIUM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premium: +35% total comp  |  Signing bonus delta: +$15-25K  |  Source: H1B data + Levels.fyi (2026)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TOP FIRMS ACTUALLY WANT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 Skill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 Skill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Test?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Goldman Sachs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Orchestration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Python/SQL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Live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 Morgan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Modeling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 Technical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Blackstone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+ Demo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Engineering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Research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 Test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McKinsey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Mgmt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Case Interview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100% of top-tier firms now include AI-specific assessments in MBA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GOVERNANCE: THE HALLUCINATION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 rot="16200000">
            <a:off x="274320" y="960120"/>
            <a:ext cx="548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7498080" cy="2926080"/>
          </a:xfrm>
          <a:prstGeom prst="rect">
            <a:avLst/>
          </a:prstGeom>
          <a:solidFill>
            <a:srgbClr val="232830"/>
          </a:solidFill>
          <a:ln w="12700">
            <a:solidFill>
              <a:srgbClr val="333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05840"/>
            <a:ext cx="2496312" cy="978408"/>
          </a:xfrm>
          <a:prstGeom prst="rect">
            <a:avLst/>
          </a:prstGeom>
          <a:solidFill>
            <a:srgbClr val="2D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410712" y="1005840"/>
            <a:ext cx="2505456" cy="978408"/>
          </a:xfrm>
          <a:prstGeom prst="rect">
            <a:avLst/>
          </a:prstGeom>
          <a:solidFill>
            <a:srgbClr val="3D1A1A"/>
          </a:solidFill>
          <a:ln/>
        </p:spPr>
      </p:sp>
      <p:sp>
        <p:nvSpPr>
          <p:cNvPr id="9" name="Shape 7"/>
          <p:cNvSpPr/>
          <p:nvPr/>
        </p:nvSpPr>
        <p:spPr>
          <a:xfrm>
            <a:off x="5916168" y="1005840"/>
            <a:ext cx="2496312" cy="978408"/>
          </a:xfrm>
          <a:prstGeom prst="rect">
            <a:avLst/>
          </a:prstGeom>
          <a:solidFill>
            <a:srgbClr val="4D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5916168" y="1984248"/>
            <a:ext cx="2496312" cy="969264"/>
          </a:xfrm>
          <a:prstGeom prst="rect">
            <a:avLst/>
          </a:prstGeom>
          <a:solidFill>
            <a:srgbClr val="3D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Mis-filing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Typo/Inaccuracy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Misallocation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HUMAN-IN-THE-LOOP IMPERATIVE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188720"/>
            <a:ext cx="2926080" cy="2743200"/>
          </a:xfrm>
          <a:prstGeom prst="ellipse">
            <a:avLst/>
          </a:prstGeom>
          <a:solidFill>
            <a:srgbClr val="1A2940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1188720"/>
            <a:ext cx="2926080" cy="2743200"/>
          </a:xfrm>
          <a:prstGeom prst="ellipse">
            <a:avLst/>
          </a:prstGeom>
          <a:solidFill>
            <a:srgbClr val="2A1F1A"/>
          </a:solidFill>
          <a:ln w="25400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Zone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sit determines your career trajectory. The intersection is not a compromise — it is a premium.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AI-AUGMENTED DEAL EXECUTION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 Cross-Border M&amp;A  |  Technology Sector  |  Q1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room triage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docs in 72hrs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1371600"/>
            <a:ext cx="457200" cy="4572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Agent-generated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 &amp; risk memo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371600"/>
            <a:ext cx="457200" cy="457200"/>
          </a:xfrm>
          <a:prstGeom prst="ellipse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board presentation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support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scenario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1572768"/>
            <a:ext cx="118872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1371600"/>
            <a:ext cx="457200" cy="457200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&amp;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38328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429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7-week close (vs 14-week avg)  |  $4.2M advisory savings  |  Zero material findings missed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12-MONTH ACTION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1-3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0020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Complete prompt engineering cert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Build first RAG prototype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Join AI finance community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DEPTH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4-6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160020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Ship agentic workflow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Contribute to open-source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Network at AI+Finance events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PORTFOLIO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7-9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160020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Build 3 case studies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AI finance blog/newsletter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Mock AI interviews with peers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0584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097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LAUNCH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4173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10-12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1691640"/>
            <a:ext cx="160020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828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AI-native roles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468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Negotiate AI premium comp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3108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Mentor next cohort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SUMMARY: THE AI-MBA MANIFESTO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515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infrastructure, not a feature — it rewires every finance function.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moat is orchestration — knowing which AI to deploy, when, and how to validate.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appreciates in value as AI commoditizes analysis.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compensation gap is real and widening — AI-native MBAs earn 35%+ premiums.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23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now — the 12-month window to differentiate is closing fast.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AI-Augmented MBA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 |  Collaborate  |  Build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github.com/ai-mba-toolkit  |  ai-augmented-mba.com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time to learn AI was two years ago.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best time is today."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2026-05-09T19:22:36Z</dcterms:created>
  <dcterms:modified xsi:type="dcterms:W3CDTF">2026-05-09T19:22:36Z</dcterms:modified>
</cp:coreProperties>
</file>