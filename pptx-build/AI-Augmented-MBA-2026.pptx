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5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Investment Banking</c:v>
                </c:pt>
              </c:strCache>
            </c:strRef>
          </c:tx>
          <c:spPr>
            <a:solidFill>
              <a:srgbClr val="D4A84B"/>
            </a:solidFill>
            <a:ln w="38100" cap="flat">
              <a:solidFill>
                <a:srgbClr val="D4A84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4A84B"/>
              </a:solidFill>
              <a:ln w="9525" cap="flat">
                <a:solidFill>
                  <a:srgbClr val="D4A8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2026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</c:v>
                </c:pt>
                <c:pt idx="1">
                  <c:v>18</c:v>
                </c:pt>
                <c:pt idx="2">
                  <c:v>28</c:v>
                </c:pt>
                <c:pt idx="3">
                  <c:v>42</c:v>
                </c:pt>
                <c:pt idx="4">
                  <c:v>58</c:v>
                </c:pt>
                <c:pt idx="5">
                  <c:v>72</c:v>
                </c:pt>
                <c:pt idx="6">
                  <c:v>85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Asset Management</c:v>
                </c:pt>
              </c:strCache>
            </c:strRef>
          </c:tx>
          <c:spPr>
            <a:solidFill>
              <a:srgbClr val="4A9EFF"/>
            </a:solidFill>
            <a:ln w="38100" cap="flat">
              <a:solidFill>
                <a:srgbClr val="4A9E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A9EFF"/>
              </a:solidFill>
              <a:ln w="9525" cap="flat">
                <a:solidFill>
                  <a:srgbClr val="4A9E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2026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15</c:v>
                </c:pt>
                <c:pt idx="1">
                  <c:v>22</c:v>
                </c:pt>
                <c:pt idx="2">
                  <c:v>35</c:v>
                </c:pt>
                <c:pt idx="3">
                  <c:v>48</c:v>
                </c:pt>
                <c:pt idx="4">
                  <c:v>62</c:v>
                </c:pt>
                <c:pt idx="5">
                  <c:v>75</c:v>
                </c:pt>
                <c:pt idx="6">
                  <c:v>88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Private Equity</c:v>
                </c:pt>
              </c:strCache>
            </c:strRef>
          </c:tx>
          <c:spPr>
            <a:solidFill>
              <a:srgbClr val="50C878"/>
            </a:solidFill>
            <a:ln w="38100" cap="flat">
              <a:solidFill>
                <a:srgbClr val="50C87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0C878"/>
              </a:solidFill>
              <a:ln w="9525" cap="flat">
                <a:solidFill>
                  <a:srgbClr val="50C87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2026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8</c:v>
                </c:pt>
                <c:pt idx="1">
                  <c:v>12</c:v>
                </c:pt>
                <c:pt idx="2">
                  <c:v>20</c:v>
                </c:pt>
                <c:pt idx="3">
                  <c:v>32</c:v>
                </c:pt>
                <c:pt idx="4">
                  <c:v>45</c:v>
                </c:pt>
                <c:pt idx="5">
                  <c:v>60</c:v>
                </c:pt>
                <c:pt idx="6">
                  <c:v>74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Risk/Compliance</c:v>
                </c:pt>
              </c:strCache>
            </c:strRef>
          </c:tx>
          <c:spPr>
            <a:solidFill>
              <a:srgbClr val="FF6B6B"/>
            </a:solidFill>
            <a:ln w="38100" cap="flat">
              <a:solidFill>
                <a:srgbClr val="FF6B6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6B6B"/>
              </a:solidFill>
              <a:ln w="9525" cap="flat">
                <a:solidFill>
                  <a:srgbClr val="FF6B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2026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20</c:v>
                </c:pt>
                <c:pt idx="1">
                  <c:v>28</c:v>
                </c:pt>
                <c:pt idx="2">
                  <c:v>38</c:v>
                </c:pt>
                <c:pt idx="3">
                  <c:v>52</c:v>
                </c:pt>
                <c:pt idx="4">
                  <c:v>65</c:v>
                </c:pt>
                <c:pt idx="5">
                  <c:v>78</c:v>
                </c:pt>
                <c:pt idx="6">
                  <c:v>90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8899AA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8899AA"/>
                    </a:solidFill>
                    <a:latin typeface="Arial"/>
                  </a:rPr>
                  <a:t>Year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8899AA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8899AA"/>
                    </a:solidFill>
                    <a:latin typeface="Arial"/>
                  </a:rPr>
                  <a:t>AI Adoption Index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solidFill>
          <a:srgbClr val="23283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F0F0F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Traditional (hours)</c:v>
                </c:pt>
              </c:strCache>
            </c:strRef>
          </c:tx>
          <c:spPr>
            <a:solidFill>
              <a:srgbClr val="4A9E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DCF Model</c:v>
                  </c:pt>
                  <c:pt idx="1">
                    <c:v>LBO Analysis</c:v>
                  </c:pt>
                  <c:pt idx="2">
                    <c:v>Comparable Cos</c:v>
                  </c:pt>
                  <c:pt idx="3">
                    <c:v>Precedent Txns</c:v>
                  </c:pt>
                  <c:pt idx="4">
                    <c:v>Accretion/Dilution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35</c:v>
                </c:pt>
                <c:pt idx="2">
                  <c:v>25</c:v>
                </c:pt>
                <c:pt idx="3">
                  <c:v>20</c:v>
                </c:pt>
                <c:pt idx="4">
                  <c:v>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AI-Augmented (hours)</c:v>
                </c:pt>
              </c:strCache>
            </c:strRef>
          </c:tx>
          <c:spPr>
            <a:solidFill>
              <a:srgbClr val="D4A8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DCF Model</c:v>
                  </c:pt>
                  <c:pt idx="1">
                    <c:v>LBO Analysis</c:v>
                  </c:pt>
                  <c:pt idx="2">
                    <c:v>Comparable Cos</c:v>
                  </c:pt>
                  <c:pt idx="3">
                    <c:v>Precedent Txns</c:v>
                  </c:pt>
                  <c:pt idx="4">
                    <c:v>Accretion/Dilution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</c:v>
                </c:pt>
                <c:pt idx="1">
                  <c:v>10</c:v>
                </c:pt>
                <c:pt idx="2">
                  <c:v>4</c:v>
                </c:pt>
                <c:pt idx="3">
                  <c:v>5</c:v>
                </c:pt>
                <c:pt idx="4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8899AA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8899AA"/>
                    </a:solidFill>
                    <a:latin typeface="Arial"/>
                  </a:rPr>
                  <a:t>Hours to Complete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3283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F0F0F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Traditional Quant Signal</c:v>
                </c:pt>
              </c:strCache>
            </c:strRef>
          </c:tx>
          <c:spPr>
            <a:solidFill>
              <a:srgbClr val="FF6B6B"/>
            </a:solidFill>
            <a:ln w="38100" cap="flat">
              <a:solidFill>
                <a:srgbClr val="FF6B6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6B6B"/>
              </a:solidFill>
              <a:ln w="9525" cap="flat">
                <a:solidFill>
                  <a:srgbClr val="FF6B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Day 1</c:v>
                  </c:pt>
                  <c:pt idx="1">
                    <c:v>Week 1</c:v>
                  </c:pt>
                  <c:pt idx="2">
                    <c:v>Month 1</c:v>
                  </c:pt>
                  <c:pt idx="3">
                    <c:v>Month 3</c:v>
                  </c:pt>
                  <c:pt idx="4">
                    <c:v>Month 6</c:v>
                  </c:pt>
                  <c:pt idx="5">
                    <c:v>Year 1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82</c:v>
                </c:pt>
                <c:pt idx="2">
                  <c:v>55</c:v>
                </c:pt>
                <c:pt idx="3">
                  <c:v>30</c:v>
                </c:pt>
                <c:pt idx="4">
                  <c:v>12</c:v>
                </c:pt>
                <c:pt idx="5">
                  <c:v>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AI-Augmented Signal</c:v>
                </c:pt>
              </c:strCache>
            </c:strRef>
          </c:tx>
          <c:spPr>
            <a:solidFill>
              <a:srgbClr val="4A9EFF"/>
            </a:solidFill>
            <a:ln w="38100" cap="flat">
              <a:solidFill>
                <a:srgbClr val="4A9E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A9EFF"/>
              </a:solidFill>
              <a:ln w="9525" cap="flat">
                <a:solidFill>
                  <a:srgbClr val="4A9E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Day 1</c:v>
                  </c:pt>
                  <c:pt idx="1">
                    <c:v>Week 1</c:v>
                  </c:pt>
                  <c:pt idx="2">
                    <c:v>Month 1</c:v>
                  </c:pt>
                  <c:pt idx="3">
                    <c:v>Month 3</c:v>
                  </c:pt>
                  <c:pt idx="4">
                    <c:v>Month 6</c:v>
                  </c:pt>
                  <c:pt idx="5">
                    <c:v>Year 1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100</c:v>
                </c:pt>
                <c:pt idx="1">
                  <c:v>95</c:v>
                </c:pt>
                <c:pt idx="2">
                  <c:v>80</c:v>
                </c:pt>
                <c:pt idx="3">
                  <c:v>62</c:v>
                </c:pt>
                <c:pt idx="4">
                  <c:v>45</c:v>
                </c:pt>
                <c:pt idx="5">
                  <c:v>28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Agentic Adaptive Signal</c:v>
                </c:pt>
              </c:strCache>
            </c:strRef>
          </c:tx>
          <c:spPr>
            <a:solidFill>
              <a:srgbClr val="D4A84B"/>
            </a:solidFill>
            <a:ln w="38100" cap="flat">
              <a:solidFill>
                <a:srgbClr val="D4A84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4A84B"/>
              </a:solidFill>
              <a:ln w="9525" cap="flat">
                <a:solidFill>
                  <a:srgbClr val="D4A8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Day 1</c:v>
                  </c:pt>
                  <c:pt idx="1">
                    <c:v>Week 1</c:v>
                  </c:pt>
                  <c:pt idx="2">
                    <c:v>Month 1</c:v>
                  </c:pt>
                  <c:pt idx="3">
                    <c:v>Month 3</c:v>
                  </c:pt>
                  <c:pt idx="4">
                    <c:v>Month 6</c:v>
                  </c:pt>
                  <c:pt idx="5">
                    <c:v>Year 1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100</c:v>
                </c:pt>
                <c:pt idx="1">
                  <c:v>98</c:v>
                </c:pt>
                <c:pt idx="2">
                  <c:v>92</c:v>
                </c:pt>
                <c:pt idx="3">
                  <c:v>85</c:v>
                </c:pt>
                <c:pt idx="4">
                  <c:v>72</c:v>
                </c:pt>
                <c:pt idx="5">
                  <c:v>58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8899AA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8899AA"/>
                    </a:solidFill>
                    <a:latin typeface="Arial"/>
                  </a:rPr>
                  <a:t>Signal Strength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3283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F0F0F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Detection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A9EFF"/>
              </a:solidFill>
              <a:effectLst/>
            </c:spPr>
          </c:dPt>
          <c:dPt>
            <c:idx val="1"/>
            <c:bubble3D val="0"/>
            <c:spPr>
              <a:solidFill>
                <a:srgbClr val="D4A84B"/>
              </a:solidFill>
              <a:effectLst/>
            </c:spPr>
          </c:dPt>
          <c:dPt>
            <c:idx val="2"/>
            <c:bubble3D val="0"/>
            <c:spPr>
              <a:solidFill>
                <a:srgbClr val="FF6B6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0F0F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0F0F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0F0F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AI-Detected</c:v>
                </c:pt>
                <c:pt idx="1">
                  <c:v>Rule-Based</c:v>
                </c:pt>
                <c:pt idx="2">
                  <c:v>Undetected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68</c:v>
                </c:pt>
                <c:pt idx="1">
                  <c:v>24</c:v>
                </c:pt>
                <c:pt idx="2">
                  <c:v>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F0F0F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Traditional MBA ($K)</c:v>
                </c:pt>
              </c:strCache>
            </c:strRef>
          </c:tx>
          <c:spPr>
            <a:solidFill>
              <a:srgbClr val="8899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IB Analyst</c:v>
                  </c:pt>
                  <c:pt idx="1">
                    <c:v>AM Associate</c:v>
                  </c:pt>
                  <c:pt idx="2">
                    <c:v>PE Associate</c:v>
                  </c:pt>
                  <c:pt idx="3">
                    <c:v>Risk Analyst</c:v>
                  </c:pt>
                  <c:pt idx="4">
                    <c:v>Consulting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175</c:v>
                </c:pt>
                <c:pt idx="1">
                  <c:v>155</c:v>
                </c:pt>
                <c:pt idx="2">
                  <c:v>190</c:v>
                </c:pt>
                <c:pt idx="3">
                  <c:v>140</c:v>
                </c:pt>
                <c:pt idx="4">
                  <c:v>165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AI-Native MBA ($K)</c:v>
                </c:pt>
              </c:strCache>
            </c:strRef>
          </c:tx>
          <c:spPr>
            <a:solidFill>
              <a:srgbClr val="D4A8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IB Analyst</c:v>
                  </c:pt>
                  <c:pt idx="1">
                    <c:v>AM Associate</c:v>
                  </c:pt>
                  <c:pt idx="2">
                    <c:v>PE Associate</c:v>
                  </c:pt>
                  <c:pt idx="3">
                    <c:v>Risk Analyst</c:v>
                  </c:pt>
                  <c:pt idx="4">
                    <c:v>Consulting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225</c:v>
                </c:pt>
                <c:pt idx="1">
                  <c:v>210</c:v>
                </c:pt>
                <c:pt idx="2">
                  <c:v>265</c:v>
                </c:pt>
                <c:pt idx="3">
                  <c:v>195</c:v>
                </c:pt>
                <c:pt idx="4">
                  <c:v>220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8899AA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8899AA"/>
                    </a:solidFill>
                    <a:latin typeface="Arial"/>
                  </a:rPr>
                  <a:t>Total Comp Year 1 ($K)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solidFill>
          <a:srgbClr val="23283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F0F0F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36576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AI-AUGMENTED MBA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Navigating Finance Jobs in 2026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won't replace the MBA, but the MBA who uses AI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replace the one who doesn't."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2026  |  Executive Briefing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2026 REALITY CHECK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377440" cy="2011680"/>
          </a:xfrm>
          <a:prstGeom prst="roundRect">
            <a:avLst>
              <a:gd name="adj" fmla="val 4545"/>
            </a:avLst>
          </a:prstGeom>
          <a:solidFill>
            <a:srgbClr val="232830"/>
          </a:solidFill>
          <a:ln w="12700">
            <a:solidFill>
              <a:srgbClr val="3338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finance tasks now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automatable by AI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280160"/>
            <a:ext cx="2377440" cy="2011680"/>
          </a:xfrm>
          <a:prstGeom prst="roundRect">
            <a:avLst>
              <a:gd name="adj" fmla="val 4545"/>
            </a:avLst>
          </a:prstGeom>
          <a:solidFill>
            <a:srgbClr val="232830"/>
          </a:solidFill>
          <a:ln w="12700">
            <a:solidFill>
              <a:srgbClr val="3338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4630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$4.4T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474720" y="21945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AI market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by 2027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280160"/>
            <a:ext cx="2377440" cy="2011680"/>
          </a:xfrm>
          <a:prstGeom prst="roundRect">
            <a:avLst>
              <a:gd name="adj" fmla="val 4545"/>
            </a:avLst>
          </a:prstGeom>
          <a:solidFill>
            <a:srgbClr val="232830"/>
          </a:solidFill>
          <a:ln w="12700">
            <a:solidFill>
              <a:srgbClr val="3338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4630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2.1×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217920" y="21945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hiring premium for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MBA grads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McKinsey Global Institute, Gartner, Burning Glass Technologies (2026)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 FINANCE: THE ACCELERATION CURVE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097280"/>
          <a:ext cx="76809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FINANCE AI TECH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232830"/>
          </a:solidFill>
          <a:ln w="19050">
            <a:solidFill>
              <a:srgbClr val="4A9E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344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&amp; Foundation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2011680" cy="18288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1168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GPT-5/Gemini 2.5 for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analysis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Fine-tuned models 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 filings &amp; 10-Ks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356616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Multi-modal: text +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 + charts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09728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232830"/>
          </a:solidFill>
          <a:ln w="19050">
            <a:solidFill>
              <a:srgbClr val="D4A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2344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0" y="1828800"/>
            <a:ext cx="2011680" cy="18288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201168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workflows for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deal flow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11880" y="27889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architectures 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proprietary data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11880" y="356616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Tool-use: Bloomberg,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CapIQ, FactSet APIs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09728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232830"/>
          </a:solidFill>
          <a:ln w="19050">
            <a:solidFill>
              <a:srgbClr val="50C8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2344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0C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50C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92240" y="1828800"/>
            <a:ext cx="2011680" cy="18288"/>
          </a:xfrm>
          <a:prstGeom prst="rect">
            <a:avLst/>
          </a:prstGeom>
          <a:solidFill>
            <a:srgbClr val="50C878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201168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optimization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scale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46520" y="27889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Monte Carlo 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hardware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46520" y="356616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Cryptographic risk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WORKFLOWS: THE NEW OPERATING SYSTEM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1188720" cy="1005840"/>
          </a:xfrm>
          <a:prstGeom prst="roundRect">
            <a:avLst>
              <a:gd name="adj" fmla="val 7273"/>
            </a:avLst>
          </a:prstGeom>
          <a:solidFill>
            <a:srgbClr val="232830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55448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554480" y="16916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783080" y="1463040"/>
            <a:ext cx="1188720" cy="1005840"/>
          </a:xfrm>
          <a:prstGeom prst="roundRect">
            <a:avLst>
              <a:gd name="adj" fmla="val 7273"/>
            </a:avLst>
          </a:prstGeom>
          <a:solidFill>
            <a:srgbClr val="232830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83080" y="155448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71800" y="16916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00400" y="1463040"/>
            <a:ext cx="1188720" cy="1005840"/>
          </a:xfrm>
          <a:prstGeom prst="roundRect">
            <a:avLst>
              <a:gd name="adj" fmla="val 7273"/>
            </a:avLst>
          </a:prstGeom>
          <a:solidFill>
            <a:srgbClr val="232830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55448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0" y="16916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617720" y="1463040"/>
            <a:ext cx="1188720" cy="1005840"/>
          </a:xfrm>
          <a:prstGeom prst="roundRect">
            <a:avLst>
              <a:gd name="adj" fmla="val 7273"/>
            </a:avLst>
          </a:prstGeom>
          <a:solidFill>
            <a:srgbClr val="232830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55448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806440" y="16916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035040" y="1463040"/>
            <a:ext cx="1188720" cy="1005840"/>
          </a:xfrm>
          <a:prstGeom prst="roundRect">
            <a:avLst>
              <a:gd name="adj" fmla="val 7273"/>
            </a:avLst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55448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223760" y="16916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452360" y="1463040"/>
            <a:ext cx="1188720" cy="1005840"/>
          </a:xfrm>
          <a:prstGeom prst="roundRect">
            <a:avLst>
              <a:gd name="adj" fmla="val 7273"/>
            </a:avLst>
          </a:prstGeom>
          <a:solidFill>
            <a:srgbClr val="232830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2360" y="155448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29260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The "Human Review" node is where MBA judgment creates irreplaceable value.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not optional — it is the competitive moat.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IB: AI-LED M&amp;A DUE DILIGENCE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75488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0C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AI-AUGMENTED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26280" y="1097280"/>
            <a:ext cx="27432" cy="292608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087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 room review: 4-6 weeks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Manual contract analysis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 analysts, 80hr weeks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$2.5M+ advisory fees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520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Risk: human error in Vol. III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15087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triage: 48-72 hours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20116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NLP contract extraction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25146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 analyst + AI copilot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30175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40-60% cost reduction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35204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Risk: hallucination in edge cases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0" y="3703320"/>
            <a:ext cx="4572000" cy="411480"/>
          </a:xfrm>
          <a:prstGeom prst="roundRect">
            <a:avLst>
              <a:gd name="adj" fmla="val 11111"/>
            </a:avLst>
          </a:prstGeom>
          <a:solidFill>
            <a:srgbClr val="232830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0" y="37033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Net result: 85% faster CIM analysis with 94% accuracy on key terms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IB: AI-POWERED VALUATION MODELS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097280"/>
          <a:ext cx="7680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time reduction: 72%  |  Error rate reduction: 45%  |  Scenario coverage: 4× increase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MANAGEMENT: HYPER-PERSONALIZED PORTFOLIOS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371600" y="1097280"/>
            <a:ext cx="6400800" cy="3017520"/>
          </a:xfrm>
          <a:prstGeom prst="rect">
            <a:avLst/>
          </a:prstGeom>
          <a:solidFill>
            <a:srgbClr val="232830"/>
          </a:solidFill>
          <a:ln w="12700">
            <a:solidFill>
              <a:srgbClr val="3338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1097280"/>
            <a:ext cx="18288" cy="301752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2606040"/>
            <a:ext cx="6400800" cy="18288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868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PERSONALIZATION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0" y="2468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SCALE →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45920" y="12801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Boutique Wealth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4592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AUM, bespoke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portfolios, high touch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46320" y="12801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FIRMS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(The Future)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 personalization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agentic portfolios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45920" y="2834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Funds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45920" y="3246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funds, ETFs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customization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834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C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Robo-Advisors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0C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(Gen 1)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3246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allocation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personalization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ALPHA: SIGNAL DECAY ANALYSIS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097280"/>
          <a:ext cx="7680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signals self-adapt via continuous RAG feedback loops — reducing alpha decay by 6×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&amp; COMPLIANCE: AUTOMATED REGULATORY FILING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232830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920240" y="15544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194560" y="13716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232830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94560" y="14630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0" y="15544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931920" y="13716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232830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0" y="14630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Cross-Ref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94960" y="15544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69280" y="13716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232830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14630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32320" y="15544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406640" y="13716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232830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0" y="14630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2743200"/>
            <a:ext cx="2194560" cy="1188720"/>
          </a:xfrm>
          <a:prstGeom prst="roundRect">
            <a:avLst>
              <a:gd name="adj" fmla="val 6154"/>
            </a:avLst>
          </a:prstGeom>
          <a:solidFill>
            <a:srgbClr val="232830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8346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914400" y="3291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 in manual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entry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08960" y="2743200"/>
            <a:ext cx="2194560" cy="1188720"/>
          </a:xfrm>
          <a:prstGeom prst="roundRect">
            <a:avLst>
              <a:gd name="adj" fmla="val 6154"/>
            </a:avLst>
          </a:prstGeom>
          <a:solidFill>
            <a:srgbClr val="232830"/>
          </a:solidFill>
          <a:ln/>
        </p:spPr>
      </p:sp>
      <p:sp>
        <p:nvSpPr>
          <p:cNvPr id="22" name="Text 20"/>
          <p:cNvSpPr/>
          <p:nvPr/>
        </p:nvSpPr>
        <p:spPr>
          <a:xfrm>
            <a:off x="3108960" y="28346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99.7%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291840" y="3291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filing accuracy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0" y="2743200"/>
            <a:ext cx="2194560" cy="1188720"/>
          </a:xfrm>
          <a:prstGeom prst="roundRect">
            <a:avLst>
              <a:gd name="adj" fmla="val 6154"/>
            </a:avLst>
          </a:prstGeom>
          <a:solidFill>
            <a:srgbClr val="232830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0" y="28346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15min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669280" y="3291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time per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report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FRAUD DETECTION: AI VS. TRADITIONAL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41148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02920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029200" y="1645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False positive rate: 0.3% (vs 12% traditional)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29200" y="2103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Detection latency: &lt;200ms real-time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0" y="2560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Synthetic data training: 50M+ scenarios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0" y="3017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Cost savings: $340M/yr for top-10 banks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0" y="3474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Regulatory citations reduced by 78%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EQUITY: PREDICTIVE DEAL SOURCING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" y="1097280"/>
            <a:ext cx="7772400" cy="640080"/>
          </a:xfrm>
          <a:prstGeom prst="roundRect">
            <a:avLst>
              <a:gd name="adj" fmla="val 7143"/>
            </a:avLst>
          </a:prstGeom>
          <a:solidFill>
            <a:srgbClr val="232830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1430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10,000+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148840" y="114300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 Scanned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(NLP on filings, news, alt data)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463040" y="1874520"/>
            <a:ext cx="6217920" cy="640080"/>
          </a:xfrm>
          <a:prstGeom prst="roundRect">
            <a:avLst>
              <a:gd name="adj" fmla="val 7143"/>
            </a:avLst>
          </a:prstGeom>
          <a:solidFill>
            <a:srgbClr val="232830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19202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2,400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926080" y="19202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AI-Scored Targets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(Propensity model &gt;0.7)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0" y="2651760"/>
            <a:ext cx="4572000" cy="640080"/>
          </a:xfrm>
          <a:prstGeom prst="roundRect">
            <a:avLst>
              <a:gd name="adj" fmla="val 7143"/>
            </a:avLst>
          </a:prstGeom>
          <a:solidFill>
            <a:srgbClr val="232830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269748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49040" y="26974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 Pipeline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(Agent-generated memos)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08960" y="3429000"/>
            <a:ext cx="2926080" cy="640080"/>
          </a:xfrm>
          <a:prstGeom prst="roundRect">
            <a:avLst>
              <a:gd name="adj" fmla="val 7143"/>
            </a:avLst>
          </a:prstGeom>
          <a:solidFill>
            <a:srgbClr val="232830"/>
          </a:solidFill>
          <a:ln w="12700">
            <a:solidFill>
              <a:srgbClr val="50C8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34747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0C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0" y="34747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Executed Deals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(Human-validated thesis)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PE: AI-DRIVEN OPERATIONAL IMPROVEMENTS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256032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1828800"/>
                <a:gridCol w="1737360"/>
              </a:tblGrid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Portfolio Co. KPI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Pre-AI Baseline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Post-AI (12mo)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 Change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E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Growth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8% YoY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14% YoY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0C8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EBITDA Margin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0C8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+8pp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 Churn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0C8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-57%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Working Capital Days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 days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 days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0C8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 Cycle Length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 days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 days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0C8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Composite of 12 PE-backed companies with AI transformation programs (2024-2026)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MBA SKILLSET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Excel-Monkey to AI-Orchestrator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840480" cy="2743200"/>
          </a:xfrm>
          <a:prstGeom prst="roundRect">
            <a:avLst>
              <a:gd name="adj" fmla="val 2667"/>
            </a:avLst>
          </a:prstGeom>
          <a:solidFill>
            <a:srgbClr val="232830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 MBA (DEPRECATED)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Excel/VBA modeling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PowerPoint formatting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560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Manual data gathering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971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Pitch book assembly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383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Static scenario analysis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3840480" cy="2743200"/>
          </a:xfrm>
          <a:prstGeom prst="roundRect">
            <a:avLst>
              <a:gd name="adj" fmla="val 2667"/>
            </a:avLst>
          </a:prstGeom>
          <a:solidFill>
            <a:srgbClr val="232830"/>
          </a:solidFill>
          <a:ln w="19050">
            <a:solidFill>
              <a:srgbClr val="50C8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0C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MBA (REQUIRED)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20640" y="1737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Prompt engineering &amp; LLM orchestration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20640" y="2148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RAG architecture design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20640" y="2560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Agent workflow composition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20640" y="2971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AI output validation &amp; governance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0640" y="3383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Synthetic data strategy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AI-ORCHESTRATOR TOOLKIT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840480" cy="1325880"/>
          </a:xfrm>
          <a:prstGeom prst="roundRect">
            <a:avLst>
              <a:gd name="adj" fmla="val 5517"/>
            </a:avLst>
          </a:prstGeom>
          <a:solidFill>
            <a:srgbClr val="232830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8872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03120" y="118872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Chain-of-thought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 patterns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design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840480" cy="1325880"/>
          </a:xfrm>
          <a:prstGeom prst="roundRect">
            <a:avLst>
              <a:gd name="adj" fmla="val 5517"/>
            </a:avLst>
          </a:prstGeom>
          <a:solidFill>
            <a:srgbClr val="232830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18872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09360" y="118872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databases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Chunking strategy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search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 pipelines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3840480" cy="1325880"/>
          </a:xfrm>
          <a:prstGeom prst="roundRect">
            <a:avLst>
              <a:gd name="adj" fmla="val 5517"/>
            </a:avLst>
          </a:prstGeom>
          <a:solidFill>
            <a:srgbClr val="232830"/>
          </a:solidFill>
          <a:ln w="12700">
            <a:solidFill>
              <a:srgbClr val="50C8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69748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0C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50C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03120" y="26974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Multi-step planning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selection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systems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recovery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2606040"/>
            <a:ext cx="3840480" cy="1325880"/>
          </a:xfrm>
          <a:prstGeom prst="roundRect">
            <a:avLst>
              <a:gd name="adj" fmla="val 5517"/>
            </a:avLst>
          </a:prstGeom>
          <a:solidFill>
            <a:srgbClr val="23283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69748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26974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handling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evaluation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detection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logging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EVOLUTION: ANALYST → PORTFOLIO ARCHITECT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20240" cy="2743200"/>
          </a:xfrm>
          <a:prstGeom prst="roundRect">
            <a:avLst>
              <a:gd name="adj" fmla="val 3810"/>
            </a:avLst>
          </a:prstGeom>
          <a:solidFill>
            <a:srgbClr val="232830"/>
          </a:solidFill>
          <a:ln w="19050">
            <a:solidFill>
              <a:srgbClr val="4A9E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801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1-2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AI-Augmented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1371600" cy="18288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28600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models with AI copilot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LLM outputs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Prompt-engineer workflows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86000" y="2103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560320" y="1188720"/>
            <a:ext cx="1920240" cy="2743200"/>
          </a:xfrm>
          <a:prstGeom prst="roundRect">
            <a:avLst>
              <a:gd name="adj" fmla="val 3810"/>
            </a:avLst>
          </a:prstGeom>
          <a:solidFill>
            <a:srgbClr val="232830"/>
          </a:solidFill>
          <a:ln w="19050">
            <a:solidFill>
              <a:srgbClr val="D4A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2801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3-4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0320" y="16002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834640" y="2194560"/>
            <a:ext cx="1371600" cy="18288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4" name="Text 12"/>
          <p:cNvSpPr/>
          <p:nvPr/>
        </p:nvSpPr>
        <p:spPr>
          <a:xfrm>
            <a:off x="2697480" y="228600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agentic pipelines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Orchestrate AI + human teams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decision frameworks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80560" y="2103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754880" y="1188720"/>
            <a:ext cx="1920240" cy="2743200"/>
          </a:xfrm>
          <a:prstGeom prst="roundRect">
            <a:avLst>
              <a:gd name="adj" fmla="val 3810"/>
            </a:avLst>
          </a:prstGeom>
          <a:solidFill>
            <a:srgbClr val="232830"/>
          </a:solidFill>
          <a:ln w="19050">
            <a:solidFill>
              <a:srgbClr val="50C8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2801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5-7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16002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0C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50C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0" y="2194560"/>
            <a:ext cx="1371600" cy="18288"/>
          </a:xfrm>
          <a:prstGeom prst="rect">
            <a:avLst/>
          </a:prstGeom>
          <a:solidFill>
            <a:srgbClr val="50C878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228600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AI governance strategy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firm-wide AI stack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 responsibility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75120" y="2103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0C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949440" y="1188720"/>
            <a:ext cx="1920240" cy="2743200"/>
          </a:xfrm>
          <a:prstGeom prst="roundRect">
            <a:avLst>
              <a:gd name="adj" fmla="val 3810"/>
            </a:avLst>
          </a:prstGeom>
          <a:solidFill>
            <a:srgbClr val="232830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12801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8+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49440" y="16002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Partner/MD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223760" y="2194560"/>
            <a:ext cx="1371600" cy="1828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6" name="Text 24"/>
          <p:cNvSpPr/>
          <p:nvPr/>
        </p:nvSpPr>
        <p:spPr>
          <a:xfrm>
            <a:off x="7086600" y="228600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 competitive moat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Board-level AI strategy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thought leadership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COMPENSATION GAP: AI-NATIVE PREMIUM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097280"/>
          <a:ext cx="768096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premium: +35% total comp  |  Signing bonus delta: +$15-25K  |  Source: H1B data + Levels.fyi (2026)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TOP FIRMS ACTUALLY WANT</a:t>
            </a:r>
            <a:endParaRPr lang="en-US" sz="2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2560320"/>
        </p:xfrm>
        <a:graphic>
          <a:graphicData uri="http://schemas.openxmlformats.org/drawingml/2006/table">
            <a:tbl>
              <a:tblPr/>
              <a:tblGrid>
                <a:gridCol w="1828800"/>
                <a:gridCol w="2103120"/>
                <a:gridCol w="2103120"/>
                <a:gridCol w="201168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#1 Skill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#2 Skill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Test?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E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Goldman Sachs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 Orchestration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Python/SQL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0C8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- Live Case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JP Morgan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RAG Architecture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Modeling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0C8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- Technical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Blackstone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Design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Ops Analytics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0C8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Case + Demo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Citadel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 Engineering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Signal Research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0C8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Coding Test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McKinsey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Strategy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Change Mgmt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0C8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Case Interview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Insight: 100% of top-tier firms now include AI-specific assessments in MBA recruiting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ETHICS &amp; GOVERNANCE: THE HALLUCINATION PROBLEM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 rot="16200000">
            <a:off x="274320" y="960120"/>
            <a:ext cx="5486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0" y="3977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→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14400" y="1005840"/>
            <a:ext cx="7498080" cy="2926080"/>
          </a:xfrm>
          <a:prstGeom prst="rect">
            <a:avLst/>
          </a:prstGeom>
          <a:solidFill>
            <a:srgbClr val="232830"/>
          </a:solidFill>
          <a:ln w="12700">
            <a:solidFill>
              <a:srgbClr val="3338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005840"/>
            <a:ext cx="2496312" cy="978408"/>
          </a:xfrm>
          <a:prstGeom prst="rect">
            <a:avLst/>
          </a:prstGeom>
          <a:solidFill>
            <a:srgbClr val="2D1A1A"/>
          </a:solidFill>
          <a:ln/>
        </p:spPr>
      </p:sp>
      <p:sp>
        <p:nvSpPr>
          <p:cNvPr id="8" name="Shape 6"/>
          <p:cNvSpPr/>
          <p:nvPr/>
        </p:nvSpPr>
        <p:spPr>
          <a:xfrm>
            <a:off x="3410712" y="1005840"/>
            <a:ext cx="2505456" cy="978408"/>
          </a:xfrm>
          <a:prstGeom prst="rect">
            <a:avLst/>
          </a:prstGeom>
          <a:solidFill>
            <a:srgbClr val="3D1A1A"/>
          </a:solidFill>
          <a:ln/>
        </p:spPr>
      </p:sp>
      <p:sp>
        <p:nvSpPr>
          <p:cNvPr id="9" name="Shape 7"/>
          <p:cNvSpPr/>
          <p:nvPr/>
        </p:nvSpPr>
        <p:spPr>
          <a:xfrm>
            <a:off x="5916168" y="1005840"/>
            <a:ext cx="2496312" cy="978408"/>
          </a:xfrm>
          <a:prstGeom prst="rect">
            <a:avLst/>
          </a:prstGeom>
          <a:solidFill>
            <a:srgbClr val="4D1A1A"/>
          </a:solidFill>
          <a:ln/>
        </p:spPr>
      </p:sp>
      <p:sp>
        <p:nvSpPr>
          <p:cNvPr id="10" name="Shape 8"/>
          <p:cNvSpPr/>
          <p:nvPr/>
        </p:nvSpPr>
        <p:spPr>
          <a:xfrm>
            <a:off x="5916168" y="1984248"/>
            <a:ext cx="2496312" cy="969264"/>
          </a:xfrm>
          <a:prstGeom prst="rect">
            <a:avLst/>
          </a:prstGeom>
          <a:solidFill>
            <a:srgbClr val="3D1A1A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0972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M&amp;A Valuation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35040" y="10972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Mis-filing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35040" y="21031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Signal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66160" y="29260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Report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Typo/Inaccuracy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97280" y="29260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0C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Memo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0C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Formatting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97280" y="10972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Misallocation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HUMAN-IN-THE-LOOP IMPERATIVE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0" y="1188720"/>
            <a:ext cx="2926080" cy="2743200"/>
          </a:xfrm>
          <a:prstGeom prst="ellipse">
            <a:avLst/>
          </a:prstGeom>
          <a:solidFill>
            <a:srgbClr val="1A2940"/>
          </a:solidFill>
          <a:ln w="25400">
            <a:solidFill>
              <a:srgbClr val="4A9E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0" y="1188720"/>
            <a:ext cx="2926080" cy="2743200"/>
          </a:xfrm>
          <a:prstGeom prst="ellipse">
            <a:avLst/>
          </a:prstGeom>
          <a:solidFill>
            <a:srgbClr val="2A1F1A"/>
          </a:solidFill>
          <a:ln w="25400">
            <a:solidFill>
              <a:srgbClr val="D4A8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0" y="20116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Zone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9319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 sit determines your career trajectory. The intersection is not a compromise — it is a premium.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AI-AUGMENTED DEAL EXECUTION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$2.8B Cross-Border M&amp;A  |  Technology Sector  |  Q1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68680" y="1371600"/>
            <a:ext cx="457200" cy="457200"/>
          </a:xfrm>
          <a:prstGeom prst="ellipse">
            <a:avLst/>
          </a:prstGeom>
          <a:solidFill>
            <a:srgbClr val="4A9EF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9202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data room triage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4,200 docs in 72hrs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371600" y="1572768"/>
            <a:ext cx="1188720" cy="27432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9" name="Shape 7"/>
          <p:cNvSpPr/>
          <p:nvPr/>
        </p:nvSpPr>
        <p:spPr>
          <a:xfrm>
            <a:off x="2606040" y="1371600"/>
            <a:ext cx="457200" cy="457200"/>
          </a:xfrm>
          <a:prstGeom prst="ellipse">
            <a:avLst/>
          </a:prstGeom>
          <a:solidFill>
            <a:srgbClr val="4A9EFF"/>
          </a:solidFill>
          <a:ln/>
        </p:spPr>
      </p:sp>
      <p:sp>
        <p:nvSpPr>
          <p:cNvPr id="10" name="Text 8"/>
          <p:cNvSpPr/>
          <p:nvPr/>
        </p:nvSpPr>
        <p:spPr>
          <a:xfrm>
            <a:off x="2103120" y="19202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2-3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03120" y="22860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Agent-generated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CIM &amp; risk memo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08960" y="1572768"/>
            <a:ext cx="1188720" cy="27432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3400" y="1371600"/>
            <a:ext cx="457200" cy="457200"/>
          </a:xfrm>
          <a:prstGeom prst="ellipse">
            <a:avLst/>
          </a:prstGeom>
          <a:solidFill>
            <a:srgbClr val="D4A84B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0" y="19202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0" y="22860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validation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board presentation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46320" y="1572768"/>
            <a:ext cx="1188720" cy="27432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17" name="Shape 15"/>
          <p:cNvSpPr/>
          <p:nvPr/>
        </p:nvSpPr>
        <p:spPr>
          <a:xfrm>
            <a:off x="6080760" y="1371600"/>
            <a:ext cx="457200" cy="457200"/>
          </a:xfrm>
          <a:prstGeom prst="ellipse">
            <a:avLst/>
          </a:prstGeom>
          <a:solidFill>
            <a:srgbClr val="50C878"/>
          </a:solidFill>
          <a:ln/>
        </p:spPr>
      </p:sp>
      <p:sp>
        <p:nvSpPr>
          <p:cNvPr id="18" name="Text 16"/>
          <p:cNvSpPr/>
          <p:nvPr/>
        </p:nvSpPr>
        <p:spPr>
          <a:xfrm>
            <a:off x="5577840" y="19202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0C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5-6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77840" y="22860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Negotiation support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scenario AI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583680" y="1572768"/>
            <a:ext cx="1188720" cy="27432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21" name="Shape 19"/>
          <p:cNvSpPr/>
          <p:nvPr/>
        </p:nvSpPr>
        <p:spPr>
          <a:xfrm>
            <a:off x="7818120" y="1371600"/>
            <a:ext cx="457200" cy="457200"/>
          </a:xfrm>
          <a:prstGeom prst="ellipse">
            <a:avLst/>
          </a:prstGeom>
          <a:solidFill>
            <a:srgbClr val="50C878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0" y="19202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0C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0" y="22860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&amp; integration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agent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371600" y="3383280"/>
            <a:ext cx="6400800" cy="640080"/>
          </a:xfrm>
          <a:prstGeom prst="roundRect">
            <a:avLst>
              <a:gd name="adj" fmla="val 7143"/>
            </a:avLst>
          </a:prstGeom>
          <a:solidFill>
            <a:srgbClr val="232830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54480" y="342900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7-week close (vs 14-week avg)  |  $4.2M advisory savings  |  Zero material findings missed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12-MONTH ACTION PLAN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965960" cy="3017520"/>
          </a:xfrm>
          <a:prstGeom prst="roundRect">
            <a:avLst>
              <a:gd name="adj" fmla="val 3721"/>
            </a:avLst>
          </a:prstGeom>
          <a:solidFill>
            <a:srgbClr val="232830"/>
          </a:solidFill>
          <a:ln w="19050">
            <a:solidFill>
              <a:srgbClr val="4A9E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Q1: FOUNDATION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 1-3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600200" cy="18288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288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Complete prompt engineering cert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Build first RAG prototype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Join AI finance community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0" y="1005840"/>
            <a:ext cx="1965960" cy="3017520"/>
          </a:xfrm>
          <a:prstGeom prst="roundRect">
            <a:avLst>
              <a:gd name="adj" fmla="val 3721"/>
            </a:avLst>
          </a:prstGeom>
          <a:solidFill>
            <a:srgbClr val="232830"/>
          </a:solidFill>
          <a:ln w="19050">
            <a:solidFill>
              <a:srgbClr val="D4A8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10972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Q2: DEPTH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60320" y="141732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 4-6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0" y="1691640"/>
            <a:ext cx="1600200" cy="18288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5" name="Text 13"/>
          <p:cNvSpPr/>
          <p:nvPr/>
        </p:nvSpPr>
        <p:spPr>
          <a:xfrm>
            <a:off x="2651760" y="18288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Ship agentic workflow project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51760" y="246888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Contribute to open-source AI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51760" y="31089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Network at AI+Finance events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1005840"/>
            <a:ext cx="1965960" cy="3017520"/>
          </a:xfrm>
          <a:prstGeom prst="roundRect">
            <a:avLst>
              <a:gd name="adj" fmla="val 3721"/>
            </a:avLst>
          </a:prstGeom>
          <a:solidFill>
            <a:srgbClr val="232830"/>
          </a:solidFill>
          <a:ln w="19050">
            <a:solidFill>
              <a:srgbClr val="50C8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0972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0C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Q3: PORTFOLIO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141732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 7-9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937760" y="1691640"/>
            <a:ext cx="1600200" cy="18288"/>
          </a:xfrm>
          <a:prstGeom prst="rect">
            <a:avLst/>
          </a:prstGeom>
          <a:solidFill>
            <a:srgbClr val="50C878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18288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Build 3 case studies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246888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Start AI finance blog/newsletter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31089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Mock AI interviews with peers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949440" y="1005840"/>
            <a:ext cx="1965960" cy="3017520"/>
          </a:xfrm>
          <a:prstGeom prst="roundRect">
            <a:avLst>
              <a:gd name="adj" fmla="val 3721"/>
            </a:avLst>
          </a:prstGeom>
          <a:solidFill>
            <a:srgbClr val="232830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0" y="10972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Q4: LAUNCH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49440" y="141732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 10-12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132320" y="1691640"/>
            <a:ext cx="1600200" cy="1828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9" name="Text 27"/>
          <p:cNvSpPr/>
          <p:nvPr/>
        </p:nvSpPr>
        <p:spPr>
          <a:xfrm>
            <a:off x="7040880" y="18288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Target AI-native roles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040880" y="246888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Negotiate AI premium comp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040880" y="31089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Mentor next cohort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SUMMARY: THE AI-MBA MANIFESTO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7680960" cy="502920"/>
          </a:xfrm>
          <a:prstGeom prst="roundRect">
            <a:avLst>
              <a:gd name="adj" fmla="val 9091"/>
            </a:avLst>
          </a:prstGeom>
          <a:solidFill>
            <a:srgbClr val="23283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515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05156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infrastructure, not a feature — it rewires every finance function.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7680960" cy="502920"/>
          </a:xfrm>
          <a:prstGeom prst="roundRect">
            <a:avLst>
              <a:gd name="adj" fmla="val 9091"/>
            </a:avLst>
          </a:prstGeom>
          <a:solidFill>
            <a:srgbClr val="23283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4592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164592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moat is orchestration — knowing which AI to deploy, when, and how to validate.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194560"/>
            <a:ext cx="7680960" cy="502920"/>
          </a:xfrm>
          <a:prstGeom prst="roundRect">
            <a:avLst>
              <a:gd name="adj" fmla="val 9091"/>
            </a:avLst>
          </a:prstGeom>
          <a:solidFill>
            <a:srgbClr val="23283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2402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224028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judgment appreciates in value as AI commoditizes analysis.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788920"/>
            <a:ext cx="7680960" cy="502920"/>
          </a:xfrm>
          <a:prstGeom prst="roundRect">
            <a:avLst>
              <a:gd name="adj" fmla="val 9091"/>
            </a:avLst>
          </a:prstGeom>
          <a:solidFill>
            <a:srgbClr val="23283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83464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283464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compensation gap is real and widening — AI-native MBAs earn 35%+ premiums.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383280"/>
            <a:ext cx="7680960" cy="502920"/>
          </a:xfrm>
          <a:prstGeom prst="roundRect">
            <a:avLst>
              <a:gd name="adj" fmla="val 9091"/>
            </a:avLst>
          </a:prstGeom>
          <a:solidFill>
            <a:srgbClr val="232830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42900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342900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building now — the 12-month window to differentiate is closing fast.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9144000" cy="36576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NEXT STEPS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AI-Augmented MBA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 |  Collaborate  |  Build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Resources: github.com/ai-mba-toolkit  |  ai-augmented-mba.com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36576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best time to learn AI was two years ago.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second best time is today."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AI-Augmented MBA: Navigating Finance Jobs in 2026</dc:title>
  <dc:subject>PptxGenJS Presentation</dc:subject>
  <dc:creator>DS Financial</dc:creator>
  <cp:lastModifiedBy>DS Financial</cp:lastModifiedBy>
  <cp:revision>1</cp:revision>
  <dcterms:created xsi:type="dcterms:W3CDTF">2026-05-09T19:25:32Z</dcterms:created>
  <dcterms:modified xsi:type="dcterms:W3CDTF">2026-05-09T19:25:32Z</dcterms:modified>
</cp:coreProperties>
</file>