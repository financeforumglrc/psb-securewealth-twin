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Banking</c:v>
                </c:pt>
              </c:strCache>
            </c:strRef>
          </c:tx>
          <c:spPr>
            <a:solidFill>
              <a:srgbClr val="D4A84B"/>
            </a:solidFill>
            <a:ln w="38100" cap="flat">
              <a:solidFill>
                <a:srgbClr val="D4A8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84B"/>
              </a:solidFill>
              <a:ln w="9525" cap="flat">
                <a:solidFill>
                  <a:srgbClr val="D4A8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42</c:v>
                </c:pt>
                <c:pt idx="4">
                  <c:v>58</c:v>
                </c:pt>
                <c:pt idx="5">
                  <c:v>72</c:v>
                </c:pt>
                <c:pt idx="6">
                  <c:v>85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Asset Management</c:v>
                </c:pt>
              </c:strCache>
            </c:strRef>
          </c:tx>
          <c:spPr>
            <a:solidFill>
              <a:srgbClr val="4A9EFF"/>
            </a:solidFill>
            <a:ln w="38100" cap="flat">
              <a:solidFill>
                <a:srgbClr val="4A9E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EFF"/>
              </a:solidFill>
              <a:ln w="9525" cap="flat">
                <a:solidFill>
                  <a:srgbClr val="4A9E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</c:v>
                </c:pt>
                <c:pt idx="1">
                  <c:v>22</c:v>
                </c:pt>
                <c:pt idx="2">
                  <c:v>35</c:v>
                </c:pt>
                <c:pt idx="3">
                  <c:v>48</c:v>
                </c:pt>
                <c:pt idx="4">
                  <c:v>62</c:v>
                </c:pt>
                <c:pt idx="5">
                  <c:v>75</c:v>
                </c:pt>
                <c:pt idx="6">
                  <c:v>88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Private Equity</c:v>
                </c:pt>
              </c:strCache>
            </c:strRef>
          </c:tx>
          <c:spPr>
            <a:solidFill>
              <a:srgbClr val="50C878"/>
            </a:solidFill>
            <a:ln w="38100" cap="flat">
              <a:solidFill>
                <a:srgbClr val="50C8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0C878"/>
              </a:solidFill>
              <a:ln w="9525" cap="flat">
                <a:solidFill>
                  <a:srgbClr val="50C8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</c:v>
                </c:pt>
                <c:pt idx="1">
                  <c:v>12</c:v>
                </c:pt>
                <c:pt idx="2">
                  <c:v>20</c:v>
                </c:pt>
                <c:pt idx="3">
                  <c:v>32</c:v>
                </c:pt>
                <c:pt idx="4">
                  <c:v>45</c:v>
                </c:pt>
                <c:pt idx="5">
                  <c:v>60</c:v>
                </c:pt>
                <c:pt idx="6">
                  <c:v>74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Risk/Compliance</c:v>
                </c:pt>
              </c:strCache>
            </c:strRef>
          </c:tx>
          <c:spPr>
            <a:solidFill>
              <a:srgbClr val="FF6B6B"/>
            </a:solidFill>
            <a:ln w="38100" cap="flat">
              <a:solidFill>
                <a:srgbClr val="FF6B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20</c:v>
                </c:pt>
                <c:pt idx="1">
                  <c:v>28</c:v>
                </c:pt>
                <c:pt idx="2">
                  <c:v>38</c:v>
                </c:pt>
                <c:pt idx="3">
                  <c:v>52</c:v>
                </c:pt>
                <c:pt idx="4">
                  <c:v>65</c:v>
                </c:pt>
                <c:pt idx="5">
                  <c:v>78</c:v>
                </c:pt>
                <c:pt idx="6">
                  <c:v>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899A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899AA"/>
                    </a:solidFill>
                    <a:latin typeface="Arial"/>
                  </a:rPr>
                  <a:t>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899A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899AA"/>
                    </a:solidFill>
                    <a:latin typeface="Arial"/>
                  </a:rPr>
                  <a:t>AI Adoption Index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2328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(hours)</c:v>
                </c:pt>
              </c:strCache>
            </c:strRef>
          </c:tx>
          <c:spPr>
            <a:solidFill>
              <a:srgbClr val="4A9E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DCF Model</c:v>
                  </c:pt>
                  <c:pt idx="1">
                    <c:v>LBO Analysis</c:v>
                  </c:pt>
                  <c:pt idx="2">
                    <c:v>Comparable Cos</c:v>
                  </c:pt>
                  <c:pt idx="3">
                    <c:v>Precedent Txns</c:v>
                  </c:pt>
                  <c:pt idx="4">
                    <c:v>Accretion/Dilution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35</c:v>
                </c:pt>
                <c:pt idx="2">
                  <c:v>25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AI-Augmented (hours)</c:v>
                </c:pt>
              </c:strCache>
            </c:strRef>
          </c:tx>
          <c:spPr>
            <a:solidFill>
              <a:srgbClr val="D4A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DCF Model</c:v>
                  </c:pt>
                  <c:pt idx="1">
                    <c:v>LBO Analysis</c:v>
                  </c:pt>
                  <c:pt idx="2">
                    <c:v>Comparable Cos</c:v>
                  </c:pt>
                  <c:pt idx="3">
                    <c:v>Precedent Txns</c:v>
                  </c:pt>
                  <c:pt idx="4">
                    <c:v>Accretion/Dilution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10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899A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899AA"/>
                    </a:solidFill>
                    <a:latin typeface="Arial"/>
                  </a:rPr>
                  <a:t>Hours to Complete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28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AI-AUGMENTED MBA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Finance Jobs in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won't replace the MBA, but the MBA who uses AI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replace the one who doesn't."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 |  Executive Briefing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REALITY CHECK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232830"/>
          </a:solidFill>
          <a:ln w="12700">
            <a:solidFill>
              <a:srgbClr val="3338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finance tasks now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automatable by 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232830"/>
          </a:solidFill>
          <a:ln w="12700">
            <a:solidFill>
              <a:srgbClr val="333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463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$4.4T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AI market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by 2027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232830"/>
          </a:solidFill>
          <a:ln w="12700">
            <a:solidFill>
              <a:srgbClr val="333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463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2.1×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premium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MBA grads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McKinsey Global Institute, Gartner, Burning Glass Technologies (2026)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FINANCE: THE ACCELERATION CURVE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097280"/>
          <a:ext cx="7680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FINANCE AI 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232830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&amp; Foundation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2011680" cy="1828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GPT-5/Gemini 2.5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models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filings &amp; 10-Ks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Multi-modal: text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+ charts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232830"/>
          </a:solidFill>
          <a:ln w="19050">
            <a:solidFill>
              <a:srgbClr val="D4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1828800"/>
            <a:ext cx="2011680" cy="1828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workflows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deal 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2788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architectures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3566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Tool-use: Bloomberg,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CapIQ, FactSet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232830"/>
          </a:solidFill>
          <a:ln w="19050">
            <a:solidFill>
              <a:srgbClr val="50C8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34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828800"/>
            <a:ext cx="2011680" cy="1828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hardware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3566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risk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WORKFLOWS: THE NEW OPERATING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8308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7180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644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5236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The "Human Review" node is where MBA judgment creates irreplaceable value.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optional — it is the competitive moat.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IB: AI-LED M&amp;A DUE DILIGENCE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097280"/>
            <a:ext cx="27432" cy="292608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room review: 4-6 weeks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contract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analysts, 80hr weeks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$2.5M+ advisory fees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Risk: human error in Vol. III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triage: 48-72 hours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NLP contract extraction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analyst + AI copilot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40-60% cost reduction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520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Risk: hallucination in edge cases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370332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232830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3703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Net result: 85% faster CIM analysis with 94% accuracy on key terms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IB: AI-POWERED VALUATION MODELS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097280"/>
          <a:ext cx="7680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reduction: 72%  |  Error rate reduction: 45%  |  Scenario coverage: 4× increase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MANAGEMENT: HYPER-PERSONALIZED PORTFOLIOS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3017520"/>
          </a:xfrm>
          <a:prstGeom prst="rect">
            <a:avLst/>
          </a:prstGeom>
          <a:solidFill>
            <a:srgbClr val="232830"/>
          </a:solidFill>
          <a:ln w="12700">
            <a:solidFill>
              <a:srgbClr val="333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097280"/>
            <a:ext cx="18288" cy="301752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606040"/>
            <a:ext cx="64008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868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PERSONALIZATION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SCALE →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592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 Wealth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AUM, bespoke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portfolios, high touch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FIRMS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Future)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personalization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agentic portfolios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Funds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funds, ETFs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customization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Robo-Advisors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 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allocation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personalization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AI-Augmented MBA: Navigating Finance Jobs in 2026</dc:title>
  <dc:subject>PptxGenJS Presentation</dc:subject>
  <dc:creator>DS Financial</dc:creator>
  <cp:lastModifiedBy>DS Financial</cp:lastModifiedBy>
  <cp:revision>1</cp:revision>
  <dcterms:created xsi:type="dcterms:W3CDTF">2026-05-09T19:19:46Z</dcterms:created>
  <dcterms:modified xsi:type="dcterms:W3CDTF">2026-05-09T19:19:46Z</dcterms:modified>
</cp:coreProperties>
</file>